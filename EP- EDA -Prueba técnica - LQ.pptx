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Montserrat Bold" charset="1" panose="00000800000000000000"/>
      <p:regular r:id="rId10"/>
    </p:embeddedFont>
    <p:embeddedFont>
      <p:font typeface="Poppins" charset="1" panose="00000500000000000000"/>
      <p:regular r:id="rId11"/>
    </p:embeddedFont>
    <p:embeddedFont>
      <p:font typeface="Montserrat" charset="1" panose="00000500000000000000"/>
      <p:regular r:id="rId12"/>
    </p:embeddedFont>
    <p:embeddedFont>
      <p:font typeface="Poppins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1- (Source: Query 1 — aggregate comp_sales_growth_pct by format)</a:t>
            </a:r>
          </a:p>
          <a:p>
            <a:r>
              <a:rPr lang="en-US"/>
              <a:t/>
            </a:r>
          </a:p>
          <a:p>
            <a:r>
              <a:rPr lang="en-US"/>
              <a:t>2- (Source: Query 2 — count of flag_rendimiento = 'BAJO_RENDIMIENTO')</a:t>
            </a:r>
          </a:p>
          <a:p>
            <a:r>
              <a:rPr lang="en-US"/>
              <a:t/>
            </a:r>
          </a:p>
          <a:p>
            <a:r>
              <a:rPr lang="en-US"/>
              <a:t>3- (Source: Query 5 — SUM(gmv_estimado_perdido))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11764"/>
            <a:ext cx="16230600" cy="1046536"/>
            <a:chOff x="0" y="0"/>
            <a:chExt cx="4274726" cy="2756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75631"/>
            </a:xfrm>
            <a:custGeom>
              <a:avLst/>
              <a:gdLst/>
              <a:ahLst/>
              <a:cxnLst/>
              <a:rect r="r" b="b" t="t" l="l"/>
              <a:pathLst>
                <a:path h="275631" w="427472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227931"/>
                  </a:lnTo>
                  <a:cubicBezTo>
                    <a:pt x="4274726" y="240582"/>
                    <a:pt x="4269700" y="252715"/>
                    <a:pt x="4260755" y="261660"/>
                  </a:cubicBezTo>
                  <a:cubicBezTo>
                    <a:pt x="4251809" y="270605"/>
                    <a:pt x="4239677" y="275631"/>
                    <a:pt x="4227026" y="275631"/>
                  </a:cubicBezTo>
                  <a:lnTo>
                    <a:pt x="47700" y="275631"/>
                  </a:lnTo>
                  <a:cubicBezTo>
                    <a:pt x="35049" y="275631"/>
                    <a:pt x="22916" y="270605"/>
                    <a:pt x="13971" y="261660"/>
                  </a:cubicBezTo>
                  <a:cubicBezTo>
                    <a:pt x="5025" y="252715"/>
                    <a:pt x="0" y="240582"/>
                    <a:pt x="0" y="227931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332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669540"/>
            <a:ext cx="7736587" cy="247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b="true" sz="879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Executive 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4627" y="8408959"/>
            <a:ext cx="7140660" cy="56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Lucía Quintana</a:t>
            </a:r>
            <a:r>
              <a:rPr lang="en-US" sz="31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3796" y="2587484"/>
            <a:ext cx="9395004" cy="4621120"/>
          </a:xfrm>
          <a:custGeom>
            <a:avLst/>
            <a:gdLst/>
            <a:ahLst/>
            <a:cxnLst/>
            <a:rect r="r" b="b" t="t" l="l"/>
            <a:pathLst>
              <a:path h="4621120" w="9395004">
                <a:moveTo>
                  <a:pt x="0" y="0"/>
                </a:moveTo>
                <a:lnTo>
                  <a:pt x="9395004" y="0"/>
                </a:lnTo>
                <a:lnTo>
                  <a:pt x="9395004" y="4621119"/>
                </a:lnTo>
                <a:lnTo>
                  <a:pt x="0" y="4621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46414" y="1210017"/>
            <a:ext cx="8262012" cy="5361024"/>
          </a:xfrm>
          <a:custGeom>
            <a:avLst/>
            <a:gdLst/>
            <a:ahLst/>
            <a:cxnLst/>
            <a:rect r="r" b="b" t="t" l="l"/>
            <a:pathLst>
              <a:path h="5361024" w="8262012">
                <a:moveTo>
                  <a:pt x="0" y="0"/>
                </a:moveTo>
                <a:lnTo>
                  <a:pt x="8262012" y="0"/>
                </a:lnTo>
                <a:lnTo>
                  <a:pt x="8262012" y="5361024"/>
                </a:lnTo>
                <a:lnTo>
                  <a:pt x="0" y="5361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977262" y="6944100"/>
            <a:ext cx="7600316" cy="2899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GMV Peaks and Troughs by Week</a:t>
            </a:r>
          </a:p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Format most sensitive to seasonality: EXPRESS</a:t>
            </a:r>
          </a:p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Peak: July 1, 2024 → Hypothesis: End of month, start of holidays.</a:t>
            </a:r>
          </a:p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Trough: June 30, 2025 → Hypothesis: Month-end in the middle of the year, with lower liquidity.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76325"/>
            <a:ext cx="8368571" cy="83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4"/>
              </a:lnSpc>
            </a:pPr>
            <a:r>
              <a:rPr lang="en-US" b="true" sz="576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Executive Summary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3796" y="1945371"/>
            <a:ext cx="15161728" cy="38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GMV by week by store’s format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3796" y="7408628"/>
            <a:ext cx="8570204" cy="1599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6"/>
              </a:lnSpc>
            </a:pPr>
            <a:r>
              <a:rPr lang="en-US" b="true" sz="2297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Store Productivity :</a:t>
            </a:r>
          </a:p>
          <a:p>
            <a:pPr algn="l">
              <a:lnSpc>
                <a:spcPts val="3216"/>
              </a:lnSpc>
            </a:pPr>
            <a:r>
              <a:rPr lang="en-US" sz="2297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10 stores (25% of the network) are BAJO_RENDIMIENTO: generating GMV/m² below the bottom 25% of their format</a:t>
            </a:r>
          </a:p>
          <a:p>
            <a:pPr algn="l">
              <a:lnSpc>
                <a:spcPts val="321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4483483" y="0"/>
            <a:ext cx="3804517" cy="5594879"/>
          </a:xfrm>
          <a:custGeom>
            <a:avLst/>
            <a:gdLst/>
            <a:ahLst/>
            <a:cxnLst/>
            <a:rect r="r" b="b" t="t" l="l"/>
            <a:pathLst>
              <a:path h="5594879" w="3804517">
                <a:moveTo>
                  <a:pt x="3804517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7" y="5594879"/>
                </a:lnTo>
                <a:lnTo>
                  <a:pt x="3804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46869"/>
            <a:ext cx="12768399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b="true" sz="879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Store Performance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5004" y="2230204"/>
            <a:ext cx="6297216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We're Winning and Losing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311584"/>
            <a:ext cx="7748996" cy="5946716"/>
            <a:chOff x="0" y="0"/>
            <a:chExt cx="10331994" cy="79289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28411" cy="1969553"/>
            </a:xfrm>
            <a:custGeom>
              <a:avLst/>
              <a:gdLst/>
              <a:ahLst/>
              <a:cxnLst/>
              <a:rect r="r" b="b" t="t" l="l"/>
              <a:pathLst>
                <a:path h="1969553" w="4728411">
                  <a:moveTo>
                    <a:pt x="0" y="0"/>
                  </a:moveTo>
                  <a:lnTo>
                    <a:pt x="4728411" y="0"/>
                  </a:lnTo>
                  <a:lnTo>
                    <a:pt x="4728411" y="1969553"/>
                  </a:lnTo>
                  <a:lnTo>
                    <a:pt x="0" y="1969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1594" t="0" r="-51594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478470"/>
              <a:ext cx="4728411" cy="1050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</a:t>
              </a:r>
              <a:r>
                <a:rPr lang="en-US" b="true" sz="27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est-performing format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7081492" y="323850"/>
              <a:ext cx="3250502" cy="1448853"/>
            </a:xfrm>
            <a:custGeom>
              <a:avLst/>
              <a:gdLst/>
              <a:ahLst/>
              <a:cxnLst/>
              <a:rect r="r" b="b" t="t" l="l"/>
              <a:pathLst>
                <a:path h="1448853" w="3250502">
                  <a:moveTo>
                    <a:pt x="0" y="0"/>
                  </a:moveTo>
                  <a:lnTo>
                    <a:pt x="3250502" y="0"/>
                  </a:lnTo>
                  <a:lnTo>
                    <a:pt x="3250502" y="1448853"/>
                  </a:lnTo>
                  <a:lnTo>
                    <a:pt x="0" y="1448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8715" t="0" r="-58715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7081492" y="792795"/>
              <a:ext cx="3250502" cy="470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5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Hipermercado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2319798"/>
              <a:ext cx="4728411" cy="1448853"/>
            </a:xfrm>
            <a:custGeom>
              <a:avLst/>
              <a:gdLst/>
              <a:ahLst/>
              <a:cxnLst/>
              <a:rect r="r" b="b" t="t" l="l"/>
              <a:pathLst>
                <a:path h="1448853" w="4728411">
                  <a:moveTo>
                    <a:pt x="0" y="0"/>
                  </a:moveTo>
                  <a:lnTo>
                    <a:pt x="4728411" y="0"/>
                  </a:lnTo>
                  <a:lnTo>
                    <a:pt x="4728411" y="1448854"/>
                  </a:lnTo>
                  <a:lnTo>
                    <a:pt x="0" y="1448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24735" t="0" r="-24735" b="0"/>
              </a:stretch>
            </a:blipFill>
          </p:spPr>
        </p:sp>
        <p:sp>
          <p:nvSpPr>
            <p:cNvPr name="AutoShape 11" id="11"/>
            <p:cNvSpPr/>
            <p:nvPr/>
          </p:nvSpPr>
          <p:spPr>
            <a:xfrm>
              <a:off x="5032554" y="3107725"/>
              <a:ext cx="1744138" cy="0"/>
            </a:xfrm>
            <a:prstGeom prst="line">
              <a:avLst/>
            </a:prstGeom>
            <a:ln cap="flat" w="127000">
              <a:solidFill>
                <a:srgbClr val="70A1BD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081492" y="2383298"/>
              <a:ext cx="3250502" cy="1448853"/>
            </a:xfrm>
            <a:custGeom>
              <a:avLst/>
              <a:gdLst/>
              <a:ahLst/>
              <a:cxnLst/>
              <a:rect r="r" b="b" t="t" l="l"/>
              <a:pathLst>
                <a:path h="1448853" w="3250502">
                  <a:moveTo>
                    <a:pt x="0" y="0"/>
                  </a:moveTo>
                  <a:lnTo>
                    <a:pt x="3250502" y="0"/>
                  </a:lnTo>
                  <a:lnTo>
                    <a:pt x="3250502" y="1448854"/>
                  </a:lnTo>
                  <a:lnTo>
                    <a:pt x="0" y="1448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58715" t="0" r="-5871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4124252"/>
              <a:ext cx="4728411" cy="1969553"/>
            </a:xfrm>
            <a:custGeom>
              <a:avLst/>
              <a:gdLst/>
              <a:ahLst/>
              <a:cxnLst/>
              <a:rect r="r" b="b" t="t" l="l"/>
              <a:pathLst>
                <a:path h="1969553" w="4728411">
                  <a:moveTo>
                    <a:pt x="0" y="0"/>
                  </a:moveTo>
                  <a:lnTo>
                    <a:pt x="4728411" y="0"/>
                  </a:lnTo>
                  <a:lnTo>
                    <a:pt x="4728411" y="1969553"/>
                  </a:lnTo>
                  <a:lnTo>
                    <a:pt x="0" y="1969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1594" t="0" r="-51594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449405"/>
              <a:ext cx="4728411" cy="1448853"/>
            </a:xfrm>
            <a:custGeom>
              <a:avLst/>
              <a:gdLst/>
              <a:ahLst/>
              <a:cxnLst/>
              <a:rect r="r" b="b" t="t" l="l"/>
              <a:pathLst>
                <a:path h="1448853" w="4728411">
                  <a:moveTo>
                    <a:pt x="0" y="0"/>
                  </a:moveTo>
                  <a:lnTo>
                    <a:pt x="4728411" y="0"/>
                  </a:lnTo>
                  <a:lnTo>
                    <a:pt x="4728411" y="1448854"/>
                  </a:lnTo>
                  <a:lnTo>
                    <a:pt x="0" y="1448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24735" t="0" r="-24735" b="0"/>
              </a:stretch>
            </a:blipFill>
          </p:spPr>
        </p:sp>
        <p:sp>
          <p:nvSpPr>
            <p:cNvPr name="AutoShape 15" id="15"/>
            <p:cNvSpPr/>
            <p:nvPr/>
          </p:nvSpPr>
          <p:spPr>
            <a:xfrm>
              <a:off x="5032554" y="5172529"/>
              <a:ext cx="1744138" cy="0"/>
            </a:xfrm>
            <a:prstGeom prst="line">
              <a:avLst/>
            </a:prstGeom>
            <a:ln cap="flat" w="127000">
              <a:solidFill>
                <a:srgbClr val="70A1BD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5032554" y="7204529"/>
              <a:ext cx="1744138" cy="0"/>
            </a:xfrm>
            <a:prstGeom prst="line">
              <a:avLst/>
            </a:prstGeom>
            <a:ln cap="flat" w="127000">
              <a:solidFill>
                <a:srgbClr val="70A1BD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081492" y="4384602"/>
              <a:ext cx="3250502" cy="1448853"/>
            </a:xfrm>
            <a:custGeom>
              <a:avLst/>
              <a:gdLst/>
              <a:ahLst/>
              <a:cxnLst/>
              <a:rect r="r" b="b" t="t" l="l"/>
              <a:pathLst>
                <a:path h="1448853" w="3250502">
                  <a:moveTo>
                    <a:pt x="0" y="0"/>
                  </a:moveTo>
                  <a:lnTo>
                    <a:pt x="3250502" y="0"/>
                  </a:lnTo>
                  <a:lnTo>
                    <a:pt x="3250502" y="1448853"/>
                  </a:lnTo>
                  <a:lnTo>
                    <a:pt x="0" y="1448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8715" t="0" r="-5871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7081492" y="4863072"/>
              <a:ext cx="3250502" cy="530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Home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7081492" y="6480102"/>
              <a:ext cx="3250502" cy="1448853"/>
            </a:xfrm>
            <a:custGeom>
              <a:avLst/>
              <a:gdLst/>
              <a:ahLst/>
              <a:cxnLst/>
              <a:rect r="r" b="b" t="t" l="l"/>
              <a:pathLst>
                <a:path h="1448853" w="3250502">
                  <a:moveTo>
                    <a:pt x="0" y="0"/>
                  </a:moveTo>
                  <a:lnTo>
                    <a:pt x="3250502" y="0"/>
                  </a:lnTo>
                  <a:lnTo>
                    <a:pt x="3250502" y="1448853"/>
                  </a:lnTo>
                  <a:lnTo>
                    <a:pt x="0" y="1448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58715" t="0" r="-5871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7081492" y="6958572"/>
              <a:ext cx="3250502" cy="530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3437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Electrónica</a:t>
              </a:r>
            </a:p>
          </p:txBody>
        </p:sp>
        <p:sp>
          <p:nvSpPr>
            <p:cNvPr name="AutoShape 21" id="21"/>
            <p:cNvSpPr/>
            <p:nvPr/>
          </p:nvSpPr>
          <p:spPr>
            <a:xfrm>
              <a:off x="5032554" y="1048277"/>
              <a:ext cx="1744138" cy="0"/>
            </a:xfrm>
            <a:prstGeom prst="line">
              <a:avLst/>
            </a:prstGeom>
            <a:ln cap="flat" w="127000">
              <a:solidFill>
                <a:srgbClr val="70A1BD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2798269"/>
              <a:ext cx="4728411" cy="530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3437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Weakest format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081492" y="2861769"/>
              <a:ext cx="3250502" cy="530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3437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Express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4602722"/>
              <a:ext cx="4728411" cy="105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Best-performing category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6927875"/>
              <a:ext cx="4728411" cy="530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3437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Weakest category 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145978" y="3349684"/>
            <a:ext cx="3885621" cy="38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Accumulated GMV %</a:t>
            </a:r>
          </a:p>
        </p:txBody>
      </p:sp>
      <p:sp>
        <p:nvSpPr>
          <p:cNvPr name="AutoShape 27" id="27"/>
          <p:cNvSpPr/>
          <p:nvPr/>
        </p:nvSpPr>
        <p:spPr>
          <a:xfrm>
            <a:off x="9480841" y="3054511"/>
            <a:ext cx="0" cy="6460861"/>
          </a:xfrm>
          <a:prstGeom prst="line">
            <a:avLst/>
          </a:prstGeom>
          <a:ln cap="flat" w="38100">
            <a:solidFill>
              <a:srgbClr val="70A1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3090513" y="4397845"/>
            <a:ext cx="19050" cy="5236702"/>
          </a:xfrm>
          <a:prstGeom prst="line">
            <a:avLst/>
          </a:prstGeom>
          <a:ln cap="flat" w="123825">
            <a:solidFill>
              <a:srgbClr val="70A1BD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TextBox 29" id="29"/>
          <p:cNvSpPr txBox="true"/>
          <p:nvPr/>
        </p:nvSpPr>
        <p:spPr>
          <a:xfrm rot="0">
            <a:off x="11011166" y="4968558"/>
            <a:ext cx="1742496" cy="38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799">
                <a:solidFill>
                  <a:srgbClr val="343734"/>
                </a:solidFill>
                <a:latin typeface="Montserrat"/>
                <a:ea typeface="Montserrat"/>
                <a:cs typeface="Montserrat"/>
                <a:sym typeface="Montserrat"/>
              </a:rPr>
              <a:t>EX: Hogar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43237" y="5796332"/>
            <a:ext cx="1195345" cy="38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799">
                <a:solidFill>
                  <a:srgbClr val="343734"/>
                </a:solidFill>
                <a:latin typeface="Montserrat"/>
                <a:ea typeface="Montserrat"/>
                <a:cs typeface="Montserrat"/>
                <a:sym typeface="Montserrat"/>
              </a:rPr>
              <a:t>75.92%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30497" y="3996095"/>
            <a:ext cx="554682" cy="28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000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26813" y="9772772"/>
            <a:ext cx="1162050" cy="28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000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BUTTOM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32172" y="6441513"/>
            <a:ext cx="1225915" cy="38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799">
                <a:solidFill>
                  <a:srgbClr val="343734"/>
                </a:solidFill>
                <a:latin typeface="Montserrat"/>
                <a:ea typeface="Montserrat"/>
                <a:cs typeface="Montserrat"/>
                <a:sym typeface="Montserrat"/>
              </a:rPr>
              <a:t>75.90%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94749" y="6441513"/>
            <a:ext cx="1834957" cy="38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799">
                <a:solidFill>
                  <a:srgbClr val="343734"/>
                </a:solidFill>
                <a:latin typeface="Montserrat"/>
                <a:ea typeface="Montserrat"/>
                <a:cs typeface="Montserrat"/>
                <a:sym typeface="Montserrat"/>
              </a:rPr>
              <a:t>SM: Hogar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47591" y="8692435"/>
            <a:ext cx="2636323" cy="38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799">
                <a:solidFill>
                  <a:srgbClr val="343734"/>
                </a:solidFill>
                <a:latin typeface="Montserrat"/>
                <a:ea typeface="Montserrat"/>
                <a:cs typeface="Montserrat"/>
                <a:sym typeface="Montserrat"/>
              </a:rPr>
              <a:t>EX: Electrónica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788167" y="8692435"/>
            <a:ext cx="699787" cy="38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799">
                <a:solidFill>
                  <a:srgbClr val="343734"/>
                </a:solidFill>
                <a:latin typeface="Montserrat"/>
                <a:ea typeface="Montserrat"/>
                <a:cs typeface="Montserrat"/>
                <a:sym typeface="Montserrat"/>
              </a:rPr>
              <a:t>52%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934573" y="6431988"/>
            <a:ext cx="2902336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400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Format:</a:t>
            </a:r>
          </a:p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343734"/>
                </a:solidFill>
                <a:latin typeface="Montserrat"/>
                <a:ea typeface="Montserrat"/>
                <a:cs typeface="Montserrat"/>
                <a:sym typeface="Montserrat"/>
              </a:rPr>
              <a:t>HM: Hipermercado</a:t>
            </a:r>
          </a:p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343734"/>
                </a:solidFill>
                <a:latin typeface="Montserrat"/>
                <a:ea typeface="Montserrat"/>
                <a:cs typeface="Montserrat"/>
                <a:sym typeface="Montserrat"/>
              </a:rPr>
              <a:t>EX: Express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343734"/>
                </a:solidFill>
                <a:latin typeface="Montserrat"/>
                <a:ea typeface="Montserrat"/>
                <a:cs typeface="Montserrat"/>
                <a:sym typeface="Montserrat"/>
              </a:rPr>
              <a:t>SM: Supermercado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24384" y="5796332"/>
            <a:ext cx="1905322" cy="38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799">
                <a:solidFill>
                  <a:srgbClr val="343734"/>
                </a:solidFill>
                <a:latin typeface="Montserrat"/>
                <a:ea typeface="Montserrat"/>
                <a:cs typeface="Montserrat"/>
                <a:sym typeface="Montserrat"/>
              </a:rPr>
              <a:t>HM: Hogar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374131" y="4986895"/>
            <a:ext cx="1217441" cy="38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799">
                <a:solidFill>
                  <a:srgbClr val="343734"/>
                </a:solidFill>
                <a:latin typeface="Montserrat"/>
                <a:ea typeface="Montserrat"/>
                <a:cs typeface="Montserrat"/>
                <a:sym typeface="Montserrat"/>
              </a:rPr>
              <a:t>76.03%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7220" y="3724630"/>
            <a:ext cx="2818458" cy="940627"/>
            <a:chOff x="0" y="0"/>
            <a:chExt cx="3757944" cy="125416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757944" cy="1254169"/>
              <a:chOff x="0" y="0"/>
              <a:chExt cx="1043839" cy="34836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43839" cy="348369"/>
              </a:xfrm>
              <a:custGeom>
                <a:avLst/>
                <a:gdLst/>
                <a:ahLst/>
                <a:cxnLst/>
                <a:rect r="r" b="b" t="t" l="l"/>
                <a:pathLst>
                  <a:path h="348369" w="1043839">
                    <a:moveTo>
                      <a:pt x="99623" y="0"/>
                    </a:moveTo>
                    <a:lnTo>
                      <a:pt x="944217" y="0"/>
                    </a:lnTo>
                    <a:cubicBezTo>
                      <a:pt x="970638" y="0"/>
                      <a:pt x="995978" y="10496"/>
                      <a:pt x="1014661" y="29179"/>
                    </a:cubicBezTo>
                    <a:cubicBezTo>
                      <a:pt x="1033343" y="47862"/>
                      <a:pt x="1043839" y="73201"/>
                      <a:pt x="1043839" y="99623"/>
                    </a:cubicBezTo>
                    <a:lnTo>
                      <a:pt x="1043839" y="248746"/>
                    </a:lnTo>
                    <a:cubicBezTo>
                      <a:pt x="1043839" y="275168"/>
                      <a:pt x="1033343" y="300507"/>
                      <a:pt x="1014661" y="319190"/>
                    </a:cubicBezTo>
                    <a:cubicBezTo>
                      <a:pt x="995978" y="337873"/>
                      <a:pt x="970638" y="348369"/>
                      <a:pt x="944217" y="348369"/>
                    </a:cubicBezTo>
                    <a:lnTo>
                      <a:pt x="99623" y="348369"/>
                    </a:lnTo>
                    <a:cubicBezTo>
                      <a:pt x="73201" y="348369"/>
                      <a:pt x="47862" y="337873"/>
                      <a:pt x="29179" y="319190"/>
                    </a:cubicBezTo>
                    <a:cubicBezTo>
                      <a:pt x="10496" y="300507"/>
                      <a:pt x="0" y="275168"/>
                      <a:pt x="0" y="248746"/>
                    </a:cubicBezTo>
                    <a:lnTo>
                      <a:pt x="0" y="99623"/>
                    </a:lnTo>
                    <a:cubicBezTo>
                      <a:pt x="0" y="73201"/>
                      <a:pt x="10496" y="47862"/>
                      <a:pt x="29179" y="29179"/>
                    </a:cubicBezTo>
                    <a:cubicBezTo>
                      <a:pt x="47862" y="10496"/>
                      <a:pt x="73201" y="0"/>
                      <a:pt x="99623" y="0"/>
                    </a:cubicBezTo>
                    <a:close/>
                  </a:path>
                </a:pathLst>
              </a:custGeom>
              <a:solidFill>
                <a:srgbClr val="34373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43839" cy="3864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82580" y="66102"/>
              <a:ext cx="3592785" cy="10553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5"/>
                </a:lnSpc>
                <a:spcBef>
                  <a:spcPct val="0"/>
                </a:spcBef>
              </a:pPr>
              <a:r>
                <a:rPr lang="en-US" sz="2275">
                  <a:solidFill>
                    <a:srgbClr val="EFF1E8"/>
                  </a:solidFill>
                  <a:latin typeface="Poppins"/>
                  <a:ea typeface="Poppins"/>
                  <a:cs typeface="Poppins"/>
                  <a:sym typeface="Poppins"/>
                </a:rPr>
                <a:t>Underperforming stores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63050" y="3626838"/>
            <a:ext cx="2818458" cy="940614"/>
            <a:chOff x="0" y="0"/>
            <a:chExt cx="3757944" cy="125415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3757944" cy="1254152"/>
              <a:chOff x="0" y="0"/>
              <a:chExt cx="1043839" cy="34836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43839" cy="348364"/>
              </a:xfrm>
              <a:custGeom>
                <a:avLst/>
                <a:gdLst/>
                <a:ahLst/>
                <a:cxnLst/>
                <a:rect r="r" b="b" t="t" l="l"/>
                <a:pathLst>
                  <a:path h="348364" w="1043839">
                    <a:moveTo>
                      <a:pt x="99623" y="0"/>
                    </a:moveTo>
                    <a:lnTo>
                      <a:pt x="944217" y="0"/>
                    </a:lnTo>
                    <a:cubicBezTo>
                      <a:pt x="970638" y="0"/>
                      <a:pt x="995978" y="10496"/>
                      <a:pt x="1014661" y="29179"/>
                    </a:cubicBezTo>
                    <a:cubicBezTo>
                      <a:pt x="1033343" y="47862"/>
                      <a:pt x="1043839" y="73201"/>
                      <a:pt x="1043839" y="99623"/>
                    </a:cubicBezTo>
                    <a:lnTo>
                      <a:pt x="1043839" y="248741"/>
                    </a:lnTo>
                    <a:cubicBezTo>
                      <a:pt x="1043839" y="275163"/>
                      <a:pt x="1033343" y="300502"/>
                      <a:pt x="1014661" y="319185"/>
                    </a:cubicBezTo>
                    <a:cubicBezTo>
                      <a:pt x="995978" y="337868"/>
                      <a:pt x="970638" y="348364"/>
                      <a:pt x="944217" y="348364"/>
                    </a:cubicBezTo>
                    <a:lnTo>
                      <a:pt x="99623" y="348364"/>
                    </a:lnTo>
                    <a:cubicBezTo>
                      <a:pt x="73201" y="348364"/>
                      <a:pt x="47862" y="337868"/>
                      <a:pt x="29179" y="319185"/>
                    </a:cubicBezTo>
                    <a:cubicBezTo>
                      <a:pt x="10496" y="300502"/>
                      <a:pt x="0" y="275163"/>
                      <a:pt x="0" y="248741"/>
                    </a:cubicBezTo>
                    <a:lnTo>
                      <a:pt x="0" y="99623"/>
                    </a:lnTo>
                    <a:cubicBezTo>
                      <a:pt x="0" y="73201"/>
                      <a:pt x="10496" y="47862"/>
                      <a:pt x="29179" y="29179"/>
                    </a:cubicBezTo>
                    <a:cubicBezTo>
                      <a:pt x="47862" y="10496"/>
                      <a:pt x="73201" y="0"/>
                      <a:pt x="99623" y="0"/>
                    </a:cubicBezTo>
                    <a:close/>
                  </a:path>
                </a:pathLst>
              </a:custGeom>
              <a:solidFill>
                <a:srgbClr val="34373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43839" cy="3864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82580" y="66102"/>
              <a:ext cx="3592785" cy="1055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5"/>
                </a:lnSpc>
                <a:spcBef>
                  <a:spcPct val="0"/>
                </a:spcBef>
              </a:pPr>
              <a:r>
                <a:rPr lang="en-US" sz="2275">
                  <a:solidFill>
                    <a:srgbClr val="EFF1E8"/>
                  </a:solidFill>
                  <a:latin typeface="Poppins"/>
                  <a:ea typeface="Poppins"/>
                  <a:cs typeface="Poppins"/>
                  <a:sym typeface="Poppins"/>
                </a:rPr>
                <a:t>Low-margin vendors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87220" y="5143500"/>
            <a:ext cx="12731640" cy="4452394"/>
          </a:xfrm>
          <a:custGeom>
            <a:avLst/>
            <a:gdLst/>
            <a:ahLst/>
            <a:cxnLst/>
            <a:rect r="r" b="b" t="t" l="l"/>
            <a:pathLst>
              <a:path h="4452394" w="12731640">
                <a:moveTo>
                  <a:pt x="0" y="0"/>
                </a:moveTo>
                <a:lnTo>
                  <a:pt x="12731640" y="0"/>
                </a:lnTo>
                <a:lnTo>
                  <a:pt x="12731640" y="4452394"/>
                </a:lnTo>
                <a:lnTo>
                  <a:pt x="0" y="4452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00104" y="1123950"/>
            <a:ext cx="15487792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Oportunnities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19540" y="2407285"/>
            <a:ext cx="4448919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We Can Improve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76829" y="3507022"/>
            <a:ext cx="4253584" cy="111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0"/>
              </a:lnSpc>
            </a:pPr>
          </a:p>
          <a:p>
            <a:pPr algn="l">
              <a:lnSpc>
                <a:spcPts val="2190"/>
              </a:lnSpc>
              <a:spcBef>
                <a:spcPct val="0"/>
              </a:spcBef>
            </a:pPr>
            <a:r>
              <a:rPr lang="en-US" sz="199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r>
              <a:rPr lang="en-US" sz="199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stores (25% of the network) are BAJO_RENDIMIENTO</a:t>
            </a:r>
          </a:p>
          <a:p>
            <a:pPr algn="l">
              <a:lnSpc>
                <a:spcPts val="219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768454" y="3645888"/>
            <a:ext cx="4490846" cy="111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0"/>
              </a:lnSpc>
              <a:spcBef>
                <a:spcPct val="0"/>
              </a:spcBef>
            </a:pPr>
            <a:r>
              <a:rPr lang="en-US" sz="199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199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stores are below the 25th percentile of GMV/m² in their format — mainly concentrated in Supermercado.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18860" y="5088455"/>
            <a:ext cx="4601258" cy="4581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Categories that account for 80% of GMV (chain-wide): While not reaching 80%, the Home category in EXPRESS format accounts for 76.3% of GMV.</a:t>
            </a:r>
          </a:p>
          <a:p>
            <a:pPr algn="l">
              <a:lnSpc>
                <a:spcPts val="2420"/>
              </a:lnSpc>
              <a:spcBef>
                <a:spcPct val="0"/>
              </a:spcBef>
            </a:pPr>
          </a:p>
          <a:p>
            <a:pPr algn="l">
              <a:lnSpc>
                <a:spcPts val="242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Do they overlap between HYPERMARKET and DISCOUNT?: Yes.</a:t>
            </a:r>
          </a:p>
          <a:p>
            <a:pPr algn="l">
              <a:lnSpc>
                <a:spcPts val="2420"/>
              </a:lnSpc>
              <a:spcBef>
                <a:spcPct val="0"/>
              </a:spcBef>
            </a:pPr>
          </a:p>
          <a:p>
            <a:pPr algn="l">
              <a:lnSpc>
                <a:spcPts val="242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Business interpretation: DISCOUNT and HYPERMARKET are more indexed to Home (convenience or impulse purchases).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DAHUEXqq_Jc</dc:identifier>
  <dcterms:modified xsi:type="dcterms:W3CDTF">2011-08-01T06:04:30Z</dcterms:modified>
  <cp:revision>1</cp:revision>
  <dc:title>Executive presentation</dc:title>
</cp:coreProperties>
</file>